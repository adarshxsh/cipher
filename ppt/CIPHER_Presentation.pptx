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presentation for CIPHER, a decentralized content distribution protocol built on top of P2P networks.</a:t>
            </a:r>
          </a:p>
          <a:p/>
          <a:p>
            <a:r>
              <a:t>Traditional Content Delivery Networks (CDNs) are highly centralized, owned by a small group of large providers, which makes them points of failure and control.</a:t>
            </a:r>
          </a:p>
          <a:p>
            <a:r>
              <a:t>CIPHER is designed to turn arbitrary files into cryptographically verifiable, erasure-coded shards distributed across untrusted nodes, replacing the middleman with mathematics.</a:t>
            </a:r>
          </a:p>
          <a:p/>
          <a:p>
            <a:r>
              <a:t>Let's move into the core problem statement we are addressing.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explaining CIPHER, we must explain the problem.</a:t>
            </a:r>
          </a:p>
          <a:p/>
          <a:p>
            <a:r>
              <a:t>Traditional centralized systems are expensive and vulnerable to failure. Centralized networks face physical bottlenecks and vulnerability to censorship.</a:t>
            </a:r>
          </a:p>
          <a:p>
            <a:r>
              <a:t>But P2P setups introduce hard problems: NAT boundaries block 60%+ of connections, nodes drop offline (churn), and peers can distribute corrupt files.</a:t>
            </a:r>
          </a:p>
          <a:p/>
          <a:p>
            <a:r>
              <a:t>Our protocol is designed specifically to address these issues.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goals are the core focus of the system architecture.</a:t>
            </a:r>
          </a:p>
          <a:p/>
          <a:p>
            <a:r>
              <a:t>First, decentralization: we distribute file shards across multiple peers.</a:t>
            </a:r>
          </a:p>
          <a:p>
            <a:r>
              <a:t>Second, reliability: a downloading node should not care if any single peer drops offline.</a:t>
            </a:r>
          </a:p>
          <a:p>
            <a:r>
              <a:t>Third, integrity: using cryptographic hash checks so that peers can't poison our files.</a:t>
            </a:r>
          </a:p>
          <a:p>
            <a:r>
              <a:t>Fourth, efficiency: swarmed downloading where we download different parts of a file concurrently from separate peers.</a:t>
            </a:r>
          </a:p>
          <a:p>
            <a:r>
              <a:t>Fifth, resilience: utilizing background NAT hole punching so standard home networks can connect directly without server relays.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overall data flow transformation model.</a:t>
            </a:r>
          </a:p>
          <a:p/>
          <a:p>
            <a:r>
              <a:t>Instead of keeping a file on a central server, the publisher splits it into Data Chunks.</a:t>
            </a:r>
          </a:p>
          <a:p>
            <a:r>
              <a:t>Next, we run these chunks through Reed-Solomon erasure coding, which yields Data and Parity Shards.</a:t>
            </a:r>
          </a:p>
          <a:p>
            <a:r>
              <a:t>These shards are distributed across P2P storage providers.</a:t>
            </a:r>
          </a:p>
          <a:p>
            <a:r>
              <a:t>A client downloads these shards in parallel from multiple providers at once.</a:t>
            </a:r>
          </a:p>
          <a:p>
            <a:r>
              <a:t>Finally, the client verifies each shard's hash, decodes them back to the original chunks, and reconstructs the file. Note that reconstruction succeeds even if some providers fail, as long as we retrieve the minimum required shards.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introduce the four core capabilities of the protocol lifecycle.</a:t>
            </a:r>
          </a:p>
          <a:p/>
          <a:p>
            <a:r>
              <a:t>Stage 1 is Content Preparation: generating encrypted shards and a manifest describing the file.</a:t>
            </a:r>
          </a:p>
          <a:p>
            <a:r>
              <a:t>Stage 2 is Discovery: querying the decentralized Control Plane to find peer addresses and building an execution plan mapping shards to source nodes.</a:t>
            </a:r>
          </a:p>
          <a:p>
            <a:r>
              <a:t>Stage 3 is Transfer: our concurrent scheduler worker pool spinning up multiplexed connections over libp2p and requesting content.</a:t>
            </a:r>
          </a:p>
          <a:p>
            <a:r>
              <a:t>Stage 4 is Recovery: correcting errors by switching providers on timeouts, resuming interrupted downloads from session records, and reconstructing data using erasure coding.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divides the CIPHER architecture into two major conceptual planes: the Control Plane and the Data Plane.</a:t>
            </a:r>
          </a:p>
          <a:p/>
          <a:p>
            <a:r>
              <a:t>The Control Plane answers 'where is the data?'. It coordinates provider, manifest, and placement mapping registries via a Kademlia DHT. This layer is currently in the design and planning expansion phase.</a:t>
            </a:r>
          </a:p>
          <a:p/>
          <a:p>
            <a:r>
              <a:t>The Data Plane answers 'get the data'. It manages transport, relay fallback, DCUtR hole punching, protocol stream handlers, and content verification. This plane is fully implemented and tested.</a:t>
            </a:r>
          </a:p>
          <a:p/>
          <a:p>
            <a:r>
              <a:t>Let's look at how data is ingested and prepared in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zoom in on the Publisher module. This slide shows the exact pipeline for turning a file into distributed content.</a:t>
            </a:r>
          </a:p>
          <a:p/>
          <a:p>
            <a:r>
              <a:t>First, the Chunker divides the file into 256KB blocks.</a:t>
            </a:r>
          </a:p>
          <a:p>
            <a:r>
              <a:t>Second, we encrypt each chunk independently using XChaCha20-Poly1305 and hash it with SHA-256. Independent chunk encryption enables parallel random-access fetching and out-of-order decryption.</a:t>
            </a:r>
          </a:p>
          <a:p>
            <a:r>
              <a:t>Third, Reed-Solomon encoding outputs data and parity shards. Providers store shards rather than monolithic chunks.</a:t>
            </a:r>
          </a:p>
          <a:p>
            <a:r>
              <a:t>Fourth, we compute a Merkle Tree over these shards to produce the Merkle Root, and package this data into an immutable manifest capability 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crucial to clarify that Kademlia is NOT used as a general-purpose database in CIPHER.</a:t>
            </a:r>
          </a:p>
          <a:p/>
          <a:p>
            <a:r>
              <a:t>Instead, Kademlia DHT acts as a decentralized metadata/discovery substrate.</a:t>
            </a:r>
          </a:p>
          <a:p>
            <a:r>
              <a:t>It stores small records: ProviderRecords (peer addresses), ManifestRecords (erasure specifications), and ShardProviderRecords (mapping shard hashes to peer IDs).</a:t>
            </a:r>
          </a:p>
          <a:p>
            <a:r>
              <a:t>The DHT stores references and metadata, while actual large file payloads remain strictly hosted on the data plane providers.</a:t>
            </a:r>
          </a:p>
          <a:p/>
          <a:p>
            <a:r>
              <a:t>Let's talk about shard placement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to distinguish between two mapping structures here.</a:t>
            </a:r>
          </a:p>
          <a:p/>
          <a:p>
            <a:r>
              <a:t>The PlacementMap is a global registry record created by the publisher. It maps shards to designated storage providers.</a:t>
            </a:r>
          </a:p>
          <a:p>
            <a:r>
              <a:t>The ChunkProviderMap is an execution plan created locally by the downloading client. It maps each required shard to the specific, online peers discovered at download time.</a:t>
            </a:r>
          </a:p>
          <a:p>
            <a:r>
              <a:t>This dynamic mapping protects the client from outdated placement tables if nodes disconnect.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P2P transport layer handles host identity and connectivity.</a:t>
            </a:r>
          </a:p>
          <a:p/>
          <a:p>
            <a:r>
              <a:t>We use persistent Ed25519 keypairs stored in system configuration paths so that node identities (PeerIDs) remain constant across restarts.</a:t>
            </a:r>
          </a:p>
          <a:p>
            <a:r>
              <a:t>For connectivity, we fallback to public Circuit v2 relays to punch initial tunnels through NATs.</a:t>
            </a:r>
          </a:p>
          <a:p>
            <a:r>
              <a:t>Simultaneously, we run the DCUtR protocol. DCUtR attempts to establish direct socket connections in the background, upgrading the connection to a high-speed direct transport path without interrupting the transfer.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/cipher/chunk/1.0.0 protocol defines the language peers use to request data.</a:t>
            </a:r>
          </a:p>
          <a:p/>
          <a:p>
            <a:r>
              <a:t>All messages are encapsulated in a unified symmetric envelope containing a version, message type, and byte payload.</a:t>
            </a:r>
          </a:p>
          <a:p>
            <a:r>
              <a:t>We send messages as size-prefixed frames capped at a maximum size of 2MB to prevent buffer overflow attacks.</a:t>
            </a:r>
          </a:p>
          <a:p>
            <a:r>
              <a:t>The message types include manifest request/response, chunk request/response, and positive or negative error acknowledgements. It is fully stateless, keeping complex transfer logic inside the client application modules.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transfer orchestrator comprises the TransferManager and the Scheduler.</a:t>
            </a:r>
          </a:p>
          <a:p/>
          <a:p>
            <a:r>
              <a:t>The TransferManager initializes session states and tracks progress using a simple boolean bitset. This bitset determines exactly which shards are done and which are missing.</a:t>
            </a:r>
          </a:p>
          <a:p>
            <a:r>
              <a:t>The Scheduler schedules missing shards into a lock-free queue.</a:t>
            </a:r>
          </a:p>
          <a:p>
            <a:r>
              <a:t>Concurrent background worker routines pop tasks from the queue and send `/cipher/chunk/1.0.0` requests to online target peers concurrently. If a peer timeouts, the worker reports the failure to the scheduler, which recycles the task to be processed by a different peer.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public P2P network, you cannot trust peers. CIPHER operates on a strict 'proof-over-trust' model.</a:t>
            </a:r>
          </a:p>
          <a:p/>
          <a:p>
            <a:r>
              <a:t>We encrypt chunks using XChaCha20-Poly1305. The decryption keys are kept separate from the public manifest so that nodes store and relay data they cannot read.</a:t>
            </a:r>
          </a:p>
          <a:p>
            <a:r>
              <a:t>For integrity, shards are content-addressed by their ciphertext hashes. The client validates the SHA-256 hash immediately upon block receipt. If a hash mismatch occurs, we drop the data immediately, protecting storage from pollution attacks.</a:t>
            </a:r>
          </a:p>
          <a:p>
            <a:r>
              <a:t>Merkle tree root checks verify that the shard belongs to the original file.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end-to-end download sequence from the client's perspective.</a:t>
            </a:r>
          </a:p>
          <a:p/>
          <a:p>
            <a:r>
              <a:t>We start with bootstrapping: getting a ManifestID and querying the DHT to fetch the manifest details.</a:t>
            </a:r>
          </a:p>
          <a:p>
            <a:r>
              <a:t>Next is planning: mapping target shards to active online peers to build our local ChunkProviderMap.</a:t>
            </a:r>
          </a:p>
          <a:p>
            <a:r>
              <a:t>Third is swarming: starting parallel fetch routines to pull shards concurrently.</a:t>
            </a:r>
          </a:p>
          <a:p>
            <a:r>
              <a:t>Finally, we run hash checks on each shard, decode Reed-Solomon blocks, and write the reassembled file to local storage. If any chunk is corrupted or incomplete, we reject it and request it again.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is our centerpiece slide showing the actual E2E system integration in action.</a:t>
            </a:r>
          </a:p>
          <a:p/>
          <a:p>
            <a:r>
              <a:t>Here we show the live data flow pathway: the publisher ingests the file, registers shard allocations, Kademlia coordinates location discovery, and the client pulls shards concurrently from separate providers.</a:t>
            </a:r>
          </a:p>
          <a:p>
            <a:r>
              <a:t>On the right, we show actual terminal outputs from a successful integration test. You can see the publisher chunking data, Kademlia routing paths, DCUtR coordinates successfully hole-punching UDP tunnels to providers, parallel scheduler streams active, and final SHA-256 verification passing.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discuss recovery. P2P transfers must survive network failure.</a:t>
            </a:r>
          </a:p>
          <a:p/>
          <a:p>
            <a:r>
              <a:t>First, we handle network failures with provider switching: workers monitor transfer loops; if a peer goes offline, we recycle the shard task back to the queue and dial a different provider.</a:t>
            </a:r>
          </a:p>
          <a:p>
            <a:r>
              <a:t>We also support local session resume, loading a bitset of progress so a client never re-downloads completed blocks after a crash.</a:t>
            </a:r>
          </a:p>
          <a:p>
            <a:r>
              <a:t>At the content layer, Reed-Solomon allows reconstruction using any K out of K+M shards. If more than M shards are missing, the file is lost. This defines the clear boundary of our recovery guarantees.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future work roadmap.</a:t>
            </a:r>
          </a:p>
          <a:p/>
          <a:p>
            <a:r>
              <a:t>First, advanced scheduling: implementing rarest-first algorithms and provider rating metrics to fetch shards more efficiently.</a:t>
            </a:r>
          </a:p>
          <a:p>
            <a:r>
              <a:t>Second, incentives: building a payment layer using smart contracts and micro-channels alongside cryptographic proof-of-storage validations so hosting nodes are fairly compensated.</a:t>
            </a:r>
          </a:p>
          <a:p>
            <a:r>
              <a:t>Third, protocol hardening: adding connection limiters, stream timeouts, and rate limits to defend the P2P transport against memory leaks and DDoS flood attacks.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attending this presentation on the CIPHER decentralized content distribution protocol.</a:t>
            </a:r>
          </a:p>
          <a:p/>
          <a:p>
            <a:r>
              <a:t>The project is developed by Adarsh Kumar, focusing on the core backend execution engine, persistent peer identity, and transport protocols.</a:t>
            </a:r>
          </a:p>
          <a:p>
            <a:r>
              <a:t>The work is guided and supported by the DevlUp Labs team at the Indian Institute of Technology Jodhpur.</a:t>
            </a:r>
          </a:p>
          <a:p/>
          <a:p>
            <a:r>
              <a:t>We are happy to take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2011680"/>
            <a:ext cx="10362895" cy="2286000"/>
          </a:xfrm>
          <a:prstGeom prst="rect">
            <a:avLst/>
          </a:prstGeom>
          <a:noFill/>
        </p:spPr>
        <p:txBody>
          <a:bodyPr wrap="square">
            <a:spAutoFit/>
          </a:bodyPr>
          <a:lstStyle/>
          <a:p>
            <a:pPr algn="ctr">
              <a:defRPr sz="6400" b="1">
                <a:solidFill>
                  <a:srgbClr val="1E3A8A"/>
                </a:solidFill>
                <a:latin typeface="Outfit"/>
              </a:defRPr>
            </a:pPr>
            <a:r>
              <a:t>CIPHER</a:t>
            </a:r>
          </a:p>
          <a:p>
            <a:pPr algn="ctr">
              <a:spcBef>
                <a:spcPts val="800"/>
              </a:spcBef>
              <a:defRPr sz="2200">
                <a:solidFill>
                  <a:srgbClr val="2563EB"/>
                </a:solidFill>
                <a:latin typeface="Calibri"/>
              </a:defRPr>
            </a:pPr>
            <a:r>
              <a:t>Decentralized Content Distribution over P2P Networks</a:t>
            </a:r>
          </a:p>
          <a:p>
            <a:pPr algn="ctr">
              <a:spcBef>
                <a:spcPts val="2000"/>
              </a:spcBef>
              <a:defRPr sz="1400" i="1">
                <a:solidFill>
                  <a:srgbClr val="334155"/>
                </a:solidFill>
                <a:latin typeface="Calibri"/>
              </a:defRPr>
            </a:pPr>
            <a:r>
              <a:t>"CDNs are owned by a handful of companies. CIPHER is the alternative — a decentralized content delivery protocol where math replaces the middleman."</a:t>
            </a:r>
          </a:p>
        </p:txBody>
      </p:sp>
      <p:sp>
        <p:nvSpPr>
          <p:cNvPr id="3" name="TextBox 2"/>
          <p:cNvSpPr txBox="1"/>
          <p:nvPr/>
        </p:nvSpPr>
        <p:spPr>
          <a:xfrm>
            <a:off x="914400" y="4754880"/>
            <a:ext cx="10362895" cy="1371600"/>
          </a:xfrm>
          <a:prstGeom prst="rect">
            <a:avLst/>
          </a:prstGeom>
          <a:noFill/>
        </p:spPr>
        <p:txBody>
          <a:bodyPr wrap="none">
            <a:spAutoFit/>
          </a:bodyPr>
          <a:lstStyle/>
          <a:p>
            <a:pPr algn="ctr">
              <a:defRPr sz="1500" b="1">
                <a:solidFill>
                  <a:srgbClr val="0F172A"/>
                </a:solidFill>
                <a:latin typeface="Calibri"/>
              </a:defRPr>
            </a:pPr>
            <a:r>
              <a:t>Presented by: Adarsh Kumar</a:t>
            </a:r>
          </a:p>
          <a:p>
            <a:pPr algn="ctr">
              <a:spcBef>
                <a:spcPts val="400"/>
              </a:spcBef>
              <a:defRPr sz="1300">
                <a:solidFill>
                  <a:srgbClr val="334155"/>
                </a:solidFill>
                <a:latin typeface="Calibri"/>
              </a:defRPr>
            </a:pPr>
            <a:r>
              <a:t>Academic Project • DevlUp Labs • IIT Jodhpur</a:t>
            </a:r>
          </a:p>
        </p:txBody>
      </p:sp>
      <p:sp>
        <p:nvSpPr>
          <p:cNvPr id="4" name="TextBox 3"/>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Problem Statement</a:t>
            </a:r>
          </a:p>
          <a:p>
            <a:pPr algn="ctr">
              <a:spcBef>
                <a:spcPts val="400"/>
              </a:spcBef>
              <a:defRPr sz="1500">
                <a:solidFill>
                  <a:srgbClr val="334155"/>
                </a:solidFill>
                <a:latin typeface="Calibri"/>
              </a:defRPr>
            </a:pPr>
            <a:r>
              <a:t>The Challenge of Reliable Distributed File Transfer</a:t>
            </a:r>
          </a:p>
        </p:txBody>
      </p:sp>
      <p:sp>
        <p:nvSpPr>
          <p:cNvPr id="5" name="TextBox 4"/>
          <p:cNvSpPr txBox="1"/>
          <p:nvPr/>
        </p:nvSpPr>
        <p:spPr>
          <a:xfrm>
            <a:off x="548640" y="1828800"/>
            <a:ext cx="6400800" cy="4114800"/>
          </a:xfrm>
          <a:prstGeom prst="rect">
            <a:avLst/>
          </a:prstGeom>
          <a:noFill/>
        </p:spPr>
        <p:txBody>
          <a:bodyPr wrap="square">
            <a:spAutoFit/>
          </a:bodyPr>
          <a:lstStyle/>
          <a:p>
            <a:pPr>
              <a:spcBef>
                <a:spcPts val="0"/>
              </a:spcBef>
              <a:defRPr sz="1600">
                <a:solidFill>
                  <a:srgbClr val="334155"/>
                </a:solidFill>
                <a:latin typeface="Calibri"/>
              </a:defRPr>
            </a:pPr>
            <a:r>
              <a:t>• Centralized Bottlenecks: Outgoing server pipes saturate quickly as client request counts grow.</a:t>
            </a:r>
          </a:p>
          <a:p>
            <a:pPr>
              <a:spcBef>
                <a:spcPts val="1600"/>
              </a:spcBef>
              <a:defRPr sz="1600">
                <a:solidFill>
                  <a:srgbClr val="334155"/>
                </a:solidFill>
                <a:latin typeface="Calibri"/>
              </a:defRPr>
            </a:pPr>
            <a:r>
              <a:t>• Single Point of Failure: Outages at central data nodes result in complete service interruptions.</a:t>
            </a:r>
          </a:p>
          <a:p>
            <a:pPr>
              <a:spcBef>
                <a:spcPts val="1600"/>
              </a:spcBef>
              <a:defRPr sz="1600">
                <a:solidFill>
                  <a:srgbClr val="334155"/>
                </a:solidFill>
                <a:latin typeface="Calibri"/>
              </a:defRPr>
            </a:pPr>
            <a:r>
              <a:t>• NAT &amp; Firewalls: Over 60% of peer nodes reside behind restrictive router walls, blocking direct connections.</a:t>
            </a:r>
          </a:p>
          <a:p>
            <a:pPr>
              <a:spcBef>
                <a:spcPts val="1600"/>
              </a:spcBef>
              <a:defRPr sz="1600">
                <a:solidFill>
                  <a:srgbClr val="334155"/>
                </a:solidFill>
                <a:latin typeface="Calibri"/>
              </a:defRPr>
            </a:pPr>
            <a:r>
              <a:t>• Peer Churn &amp; Poisoning: Distributed nodes join and leave unpredictably, and untrusted peers may modify data.</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Design Goals</a:t>
            </a:r>
          </a:p>
          <a:p>
            <a:pPr algn="ctr">
              <a:spcBef>
                <a:spcPts val="400"/>
              </a:spcBef>
              <a:defRPr sz="1500">
                <a:solidFill>
                  <a:srgbClr val="334155"/>
                </a:solidFill>
                <a:latin typeface="Calibri"/>
              </a:defRPr>
            </a:pPr>
            <a:r>
              <a:t>Four Pillars of a Robust P2P CDN</a:t>
            </a:r>
          </a:p>
        </p:txBody>
      </p:sp>
      <p:sp>
        <p:nvSpPr>
          <p:cNvPr id="5" name="Rounded Rectangle 4"/>
          <p:cNvSpPr/>
          <p:nvPr/>
        </p:nvSpPr>
        <p:spPr>
          <a:xfrm>
            <a:off x="5486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2560320" cy="3657600"/>
          </a:xfrm>
          <a:prstGeom prst="rect">
            <a:avLst/>
          </a:prstGeom>
          <a:noFill/>
        </p:spPr>
        <p:txBody>
          <a:bodyPr wrap="square">
            <a:spAutoFit/>
          </a:bodyPr>
          <a:lstStyle/>
          <a:p>
            <a:pPr algn="ctr">
              <a:defRPr sz="1800" b="1">
                <a:solidFill>
                  <a:srgbClr val="1E3A8A"/>
                </a:solidFill>
                <a:latin typeface="Outfit"/>
              </a:defRPr>
            </a:pPr>
            <a:r>
              <a:t>1. Decentralization</a:t>
            </a:r>
          </a:p>
          <a:p>
            <a:pPr algn="ctr">
              <a:spcAft>
                <a:spcPts val="1000"/>
              </a:spcAft>
              <a:defRPr sz="1100" b="1">
                <a:solidFill>
                  <a:srgbClr val="2563EB"/>
                </a:solidFill>
                <a:latin typeface="Calibri"/>
              </a:defRPr>
            </a:pPr>
            <a:r>
              <a:t>No Central Control</a:t>
            </a:r>
          </a:p>
          <a:p>
            <a:pPr>
              <a:spcBef>
                <a:spcPts val="800"/>
              </a:spcBef>
              <a:defRPr sz="1300">
                <a:solidFill>
                  <a:srgbClr val="334155"/>
                </a:solidFill>
                <a:latin typeface="Calibri"/>
              </a:defRPr>
            </a:pPr>
            <a:r>
              <a:t>Shards are placed on distinct independent providers across the network, avoiding reliance on any single node.</a:t>
            </a:r>
          </a:p>
        </p:txBody>
      </p:sp>
      <p:sp>
        <p:nvSpPr>
          <p:cNvPr id="7" name="Rounded Rectangle 6"/>
          <p:cNvSpPr/>
          <p:nvPr/>
        </p:nvSpPr>
        <p:spPr>
          <a:xfrm>
            <a:off x="32918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2194560"/>
            <a:ext cx="2560320" cy="3657600"/>
          </a:xfrm>
          <a:prstGeom prst="rect">
            <a:avLst/>
          </a:prstGeom>
          <a:noFill/>
        </p:spPr>
        <p:txBody>
          <a:bodyPr wrap="square">
            <a:spAutoFit/>
          </a:bodyPr>
          <a:lstStyle/>
          <a:p>
            <a:pPr algn="ctr">
              <a:defRPr sz="1800" b="1">
                <a:solidFill>
                  <a:srgbClr val="1E3A8A"/>
                </a:solidFill>
                <a:latin typeface="Outfit"/>
              </a:defRPr>
            </a:pPr>
            <a:r>
              <a:t>2. Reliability</a:t>
            </a:r>
          </a:p>
          <a:p>
            <a:pPr algn="ctr">
              <a:spcAft>
                <a:spcPts val="1000"/>
              </a:spcAft>
              <a:defRPr sz="1100" b="1">
                <a:solidFill>
                  <a:srgbClr val="2563EB"/>
                </a:solidFill>
                <a:latin typeface="Calibri"/>
              </a:defRPr>
            </a:pPr>
            <a:r>
              <a:t>Self-Healing Deck</a:t>
            </a:r>
          </a:p>
          <a:p>
            <a:pPr>
              <a:spcBef>
                <a:spcPts val="800"/>
              </a:spcBef>
              <a:defRPr sz="1300">
                <a:solidFill>
                  <a:srgbClr val="334155"/>
                </a:solidFill>
                <a:latin typeface="Calibri"/>
              </a:defRPr>
            </a:pPr>
            <a:r>
              <a:t>Peer dropouts and network latency spikes must not terminate or stall the overall download process.</a:t>
            </a:r>
          </a:p>
        </p:txBody>
      </p:sp>
      <p:sp>
        <p:nvSpPr>
          <p:cNvPr id="9" name="Rounded Rectangle 8"/>
          <p:cNvSpPr/>
          <p:nvPr/>
        </p:nvSpPr>
        <p:spPr>
          <a:xfrm>
            <a:off x="60350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2194560"/>
            <a:ext cx="2560320" cy="3657600"/>
          </a:xfrm>
          <a:prstGeom prst="rect">
            <a:avLst/>
          </a:prstGeom>
          <a:noFill/>
        </p:spPr>
        <p:txBody>
          <a:bodyPr wrap="square">
            <a:spAutoFit/>
          </a:bodyPr>
          <a:lstStyle/>
          <a:p>
            <a:pPr algn="ctr">
              <a:defRPr sz="1800" b="1">
                <a:solidFill>
                  <a:srgbClr val="1E3A8A"/>
                </a:solidFill>
                <a:latin typeface="Outfit"/>
              </a:defRPr>
            </a:pPr>
            <a:r>
              <a:t>3. Integrity</a:t>
            </a:r>
          </a:p>
          <a:p>
            <a:pPr algn="ctr">
              <a:spcAft>
                <a:spcPts val="1000"/>
              </a:spcAft>
              <a:defRPr sz="1100" b="1">
                <a:solidFill>
                  <a:srgbClr val="2563EB"/>
                </a:solidFill>
                <a:latin typeface="Calibri"/>
              </a:defRPr>
            </a:pPr>
            <a:r>
              <a:t>Proof over Trust</a:t>
            </a:r>
          </a:p>
          <a:p>
            <a:pPr>
              <a:spcBef>
                <a:spcPts val="800"/>
              </a:spcBef>
              <a:defRPr sz="1300">
                <a:solidFill>
                  <a:srgbClr val="334155"/>
                </a:solidFill>
                <a:latin typeface="Calibri"/>
              </a:defRPr>
            </a:pPr>
            <a:r>
              <a:t>Strict ciphertext content-addressing ensures data is verified on receipt, blocking malicious poisoning.</a:t>
            </a:r>
          </a:p>
        </p:txBody>
      </p:sp>
      <p:sp>
        <p:nvSpPr>
          <p:cNvPr id="11" name="Rounded Rectangle 10"/>
          <p:cNvSpPr/>
          <p:nvPr/>
        </p:nvSpPr>
        <p:spPr>
          <a:xfrm>
            <a:off x="87782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2194560"/>
            <a:ext cx="2560320" cy="3657600"/>
          </a:xfrm>
          <a:prstGeom prst="rect">
            <a:avLst/>
          </a:prstGeom>
          <a:noFill/>
        </p:spPr>
        <p:txBody>
          <a:bodyPr wrap="square">
            <a:spAutoFit/>
          </a:bodyPr>
          <a:lstStyle/>
          <a:p>
            <a:pPr algn="ctr">
              <a:defRPr sz="1800" b="1">
                <a:solidFill>
                  <a:srgbClr val="1E3A8A"/>
                </a:solidFill>
                <a:latin typeface="Outfit"/>
              </a:defRPr>
            </a:pPr>
            <a:r>
              <a:t>4. Efficiency</a:t>
            </a:r>
          </a:p>
          <a:p>
            <a:pPr algn="ctr">
              <a:spcAft>
                <a:spcPts val="1000"/>
              </a:spcAft>
              <a:defRPr sz="1100" b="1">
                <a:solidFill>
                  <a:srgbClr val="2563EB"/>
                </a:solidFill>
                <a:latin typeface="Calibri"/>
              </a:defRPr>
            </a:pPr>
            <a:r>
              <a:t>Swarmed Retrieval</a:t>
            </a:r>
          </a:p>
          <a:p>
            <a:pPr>
              <a:spcBef>
                <a:spcPts val="800"/>
              </a:spcBef>
              <a:defRPr sz="1300">
                <a:solidFill>
                  <a:srgbClr val="334155"/>
                </a:solidFill>
                <a:latin typeface="Calibri"/>
              </a:defRPr>
            </a:pPr>
            <a:r>
              <a:t>Parallel channels query multiple seed hosts concurrently to saturate the client's network path.</a:t>
            </a:r>
          </a:p>
        </p:txBody>
      </p:sp>
      <p:sp>
        <p:nvSpPr>
          <p:cNvPr id="13" name="TextBox 12"/>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System Overview</a:t>
            </a:r>
          </a:p>
          <a:p>
            <a:pPr algn="ctr">
              <a:spcBef>
                <a:spcPts val="400"/>
              </a:spcBef>
              <a:defRPr sz="1500">
                <a:solidFill>
                  <a:srgbClr val="334155"/>
                </a:solidFill>
                <a:latin typeface="Calibri"/>
              </a:defRPr>
            </a:pPr>
            <a:r>
              <a:t>From One File to Distributed Content</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File Chunking: Monolithic file is split into 256KB segments.</a:t>
            </a:r>
          </a:p>
          <a:p>
            <a:pPr>
              <a:spcBef>
                <a:spcPts val="1600"/>
              </a:spcBef>
              <a:defRPr sz="1600">
                <a:solidFill>
                  <a:srgbClr val="334155"/>
                </a:solidFill>
                <a:latin typeface="Calibri"/>
              </a:defRPr>
            </a:pPr>
            <a:r>
              <a:t>• Erasure Redundancy: Reed-Solomon creates additional parity shards.</a:t>
            </a:r>
          </a:p>
          <a:p>
            <a:pPr>
              <a:spcBef>
                <a:spcPts val="1600"/>
              </a:spcBef>
              <a:defRPr sz="1600">
                <a:solidFill>
                  <a:srgbClr val="334155"/>
                </a:solidFill>
                <a:latin typeface="Calibri"/>
              </a:defRPr>
            </a:pPr>
            <a:r>
              <a:t>• Swarm Placements: Shards are stored across distinct nodes.</a:t>
            </a:r>
          </a:p>
          <a:p>
            <a:pPr>
              <a:spcBef>
                <a:spcPts val="1600"/>
              </a:spcBef>
              <a:defRPr sz="1600">
                <a:solidFill>
                  <a:srgbClr val="334155"/>
                </a:solidFill>
                <a:latin typeface="Calibri"/>
              </a:defRPr>
            </a:pPr>
            <a:r>
              <a:t>• Parallel Retrieval: Client downloads shards concurrently from multiple online nodes.</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Core Features</a:t>
            </a:r>
          </a:p>
          <a:p>
            <a:pPr algn="ctr">
              <a:spcBef>
                <a:spcPts val="400"/>
              </a:spcBef>
              <a:defRPr sz="1500">
                <a:solidFill>
                  <a:srgbClr val="334155"/>
                </a:solidFill>
                <a:latin typeface="Calibri"/>
              </a:defRPr>
            </a:pPr>
            <a:r>
              <a:t>Ingestion • Discovery • Swarming • Failover</a:t>
            </a:r>
          </a:p>
        </p:txBody>
      </p:sp>
      <p:sp>
        <p:nvSpPr>
          <p:cNvPr id="5" name="Rounded Rectangle 4"/>
          <p:cNvSpPr/>
          <p:nvPr/>
        </p:nvSpPr>
        <p:spPr>
          <a:xfrm>
            <a:off x="5486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2560320" cy="3657600"/>
          </a:xfrm>
          <a:prstGeom prst="rect">
            <a:avLst/>
          </a:prstGeom>
          <a:noFill/>
        </p:spPr>
        <p:txBody>
          <a:bodyPr wrap="square">
            <a:spAutoFit/>
          </a:bodyPr>
          <a:lstStyle/>
          <a:p>
            <a:pPr algn="ctr">
              <a:defRPr sz="1800" b="1">
                <a:solidFill>
                  <a:srgbClr val="1E3A8A"/>
                </a:solidFill>
                <a:latin typeface="Outfit"/>
              </a:defRPr>
            </a:pPr>
            <a:r>
              <a:t>1. Prepare</a:t>
            </a:r>
          </a:p>
          <a:p>
            <a:pPr algn="ctr">
              <a:spcAft>
                <a:spcPts val="1000"/>
              </a:spcAft>
              <a:defRPr sz="1100" b="1">
                <a:solidFill>
                  <a:srgbClr val="2563EB"/>
                </a:solidFill>
                <a:latin typeface="Calibri"/>
              </a:defRPr>
            </a:pPr>
            <a:r>
              <a:t>Ingestion &amp; Split</a:t>
            </a:r>
          </a:p>
          <a:p>
            <a:pPr>
              <a:spcBef>
                <a:spcPts val="800"/>
              </a:spcBef>
              <a:defRPr sz="1300">
                <a:solidFill>
                  <a:srgbClr val="334155"/>
                </a:solidFill>
                <a:latin typeface="Calibri"/>
              </a:defRPr>
            </a:pPr>
            <a:r>
              <a:t>Splits files, encrypts via XChaCha20, hashes via SHA-256, and generates Reed-Solomon shards.</a:t>
            </a:r>
          </a:p>
        </p:txBody>
      </p:sp>
      <p:sp>
        <p:nvSpPr>
          <p:cNvPr id="7" name="Rounded Rectangle 6"/>
          <p:cNvSpPr/>
          <p:nvPr/>
        </p:nvSpPr>
        <p:spPr>
          <a:xfrm>
            <a:off x="32918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2194560"/>
            <a:ext cx="2560320" cy="3657600"/>
          </a:xfrm>
          <a:prstGeom prst="rect">
            <a:avLst/>
          </a:prstGeom>
          <a:noFill/>
        </p:spPr>
        <p:txBody>
          <a:bodyPr wrap="square">
            <a:spAutoFit/>
          </a:bodyPr>
          <a:lstStyle/>
          <a:p>
            <a:pPr algn="ctr">
              <a:defRPr sz="1800" b="1">
                <a:solidFill>
                  <a:srgbClr val="1E3A8A"/>
                </a:solidFill>
                <a:latin typeface="Outfit"/>
              </a:defRPr>
            </a:pPr>
            <a:r>
              <a:t>2. Discover</a:t>
            </a:r>
          </a:p>
          <a:p>
            <a:pPr algn="ctr">
              <a:spcAft>
                <a:spcPts val="1000"/>
              </a:spcAft>
              <a:defRPr sz="1100" b="1">
                <a:solidFill>
                  <a:srgbClr val="2563EB"/>
                </a:solidFill>
                <a:latin typeface="Calibri"/>
              </a:defRPr>
            </a:pPr>
            <a:r>
              <a:t>Registry Substrate</a:t>
            </a:r>
          </a:p>
          <a:p>
            <a:pPr>
              <a:spcBef>
                <a:spcPts val="800"/>
              </a:spcBef>
              <a:defRPr sz="1300">
                <a:solidFill>
                  <a:srgbClr val="334155"/>
                </a:solidFill>
                <a:latin typeface="Calibri"/>
              </a:defRPr>
            </a:pPr>
            <a:r>
              <a:t>Queries Control Plane locations to build the client-side ChunkProviderMap execution plan.</a:t>
            </a:r>
          </a:p>
        </p:txBody>
      </p:sp>
      <p:sp>
        <p:nvSpPr>
          <p:cNvPr id="9" name="Rounded Rectangle 8"/>
          <p:cNvSpPr/>
          <p:nvPr/>
        </p:nvSpPr>
        <p:spPr>
          <a:xfrm>
            <a:off x="60350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2194560"/>
            <a:ext cx="2560320" cy="3657600"/>
          </a:xfrm>
          <a:prstGeom prst="rect">
            <a:avLst/>
          </a:prstGeom>
          <a:noFill/>
        </p:spPr>
        <p:txBody>
          <a:bodyPr wrap="square">
            <a:spAutoFit/>
          </a:bodyPr>
          <a:lstStyle/>
          <a:p>
            <a:pPr algn="ctr">
              <a:defRPr sz="1800" b="1">
                <a:solidFill>
                  <a:srgbClr val="1E3A8A"/>
                </a:solidFill>
                <a:latin typeface="Outfit"/>
              </a:defRPr>
            </a:pPr>
            <a:r>
              <a:t>3. Transfer</a:t>
            </a:r>
          </a:p>
          <a:p>
            <a:pPr algn="ctr">
              <a:spcAft>
                <a:spcPts val="1000"/>
              </a:spcAft>
              <a:defRPr sz="1100" b="1">
                <a:solidFill>
                  <a:srgbClr val="2563EB"/>
                </a:solidFill>
                <a:latin typeface="Calibri"/>
              </a:defRPr>
            </a:pPr>
            <a:r>
              <a:t>Swarm Pipeline</a:t>
            </a:r>
          </a:p>
          <a:p>
            <a:pPr>
              <a:spcBef>
                <a:spcPts val="800"/>
              </a:spcBef>
              <a:defRPr sz="1300">
                <a:solidFill>
                  <a:srgbClr val="334155"/>
                </a:solidFill>
                <a:latin typeface="Calibri"/>
              </a:defRPr>
            </a:pPr>
            <a:r>
              <a:t>Concurrently queries multiple providers over upgraded DCUtR direct paths in a lock-free queue.</a:t>
            </a:r>
          </a:p>
        </p:txBody>
      </p:sp>
      <p:sp>
        <p:nvSpPr>
          <p:cNvPr id="11" name="Rounded Rectangle 10"/>
          <p:cNvSpPr/>
          <p:nvPr/>
        </p:nvSpPr>
        <p:spPr>
          <a:xfrm>
            <a:off x="8778240" y="2103120"/>
            <a:ext cx="2560320" cy="3840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2194560"/>
            <a:ext cx="2560320" cy="3657600"/>
          </a:xfrm>
          <a:prstGeom prst="rect">
            <a:avLst/>
          </a:prstGeom>
          <a:noFill/>
        </p:spPr>
        <p:txBody>
          <a:bodyPr wrap="square">
            <a:spAutoFit/>
          </a:bodyPr>
          <a:lstStyle/>
          <a:p>
            <a:pPr algn="ctr">
              <a:defRPr sz="1800" b="1">
                <a:solidFill>
                  <a:srgbClr val="1E3A8A"/>
                </a:solidFill>
                <a:latin typeface="Outfit"/>
              </a:defRPr>
            </a:pPr>
            <a:r>
              <a:t>4. Recover</a:t>
            </a:r>
          </a:p>
          <a:p>
            <a:pPr algn="ctr">
              <a:spcAft>
                <a:spcPts val="1000"/>
              </a:spcAft>
              <a:defRPr sz="1100" b="1">
                <a:solidFill>
                  <a:srgbClr val="2563EB"/>
                </a:solidFill>
                <a:latin typeface="Calibri"/>
              </a:defRPr>
            </a:pPr>
            <a:r>
              <a:t>Self-Healing Deck</a:t>
            </a:r>
          </a:p>
          <a:p>
            <a:pPr>
              <a:spcBef>
                <a:spcPts val="800"/>
              </a:spcBef>
              <a:defRPr sz="1300">
                <a:solidFill>
                  <a:srgbClr val="334155"/>
                </a:solidFill>
                <a:latin typeface="Calibri"/>
              </a:defRPr>
            </a:pPr>
            <a:r>
              <a:t>Handles node failovers by switching providers, resuming session logs, and decoding erasure blocks.</a:t>
            </a:r>
          </a:p>
        </p:txBody>
      </p:sp>
      <p:sp>
        <p:nvSpPr>
          <p:cNvPr id="13" name="TextBox 12"/>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Architecture</a:t>
            </a:r>
          </a:p>
          <a:p>
            <a:pPr algn="ctr">
              <a:spcBef>
                <a:spcPts val="400"/>
              </a:spcBef>
              <a:defRPr sz="1500">
                <a:solidFill>
                  <a:srgbClr val="334155"/>
                </a:solidFill>
                <a:latin typeface="Calibri"/>
              </a:defRPr>
            </a:pPr>
            <a:r>
              <a:t>Control Plane and Data Plane Division</a:t>
            </a:r>
          </a:p>
        </p:txBody>
      </p:sp>
      <p:sp>
        <p:nvSpPr>
          <p:cNvPr id="5" name="TextBox 4"/>
          <p:cNvSpPr txBox="1"/>
          <p:nvPr/>
        </p:nvSpPr>
        <p:spPr>
          <a:xfrm>
            <a:off x="548640" y="1828800"/>
            <a:ext cx="5486400" cy="4114800"/>
          </a:xfrm>
          <a:prstGeom prst="rect">
            <a:avLst/>
          </a:prstGeom>
          <a:noFill/>
        </p:spPr>
        <p:txBody>
          <a:bodyPr wrap="square">
            <a:spAutoFit/>
          </a:bodyPr>
          <a:lstStyle/>
          <a:p>
            <a:pPr>
              <a:defRPr sz="1800" b="1">
                <a:solidFill>
                  <a:srgbClr val="1E3A8A"/>
                </a:solidFill>
                <a:latin typeface="Outfit"/>
              </a:defRPr>
            </a:pPr>
            <a:r>
              <a:t>Control Plane (Planned / Design)</a:t>
            </a:r>
          </a:p>
          <a:p>
            <a:pPr>
              <a:spcBef>
                <a:spcPts val="400"/>
              </a:spcBef>
              <a:spcAft>
                <a:spcPts val="2000"/>
              </a:spcAft>
              <a:defRPr sz="1400">
                <a:solidFill>
                  <a:srgbClr val="334155"/>
                </a:solidFill>
                <a:latin typeface="Calibri"/>
              </a:defRPr>
            </a:pPr>
            <a:r>
              <a:t>Manages metadata: Registries (Provider, Manifest, and Placement maps) resolved via Kademlia DHT.</a:t>
            </a:r>
          </a:p>
          <a:p>
            <a:pPr>
              <a:defRPr sz="1800" b="1">
                <a:solidFill>
                  <a:srgbClr val="16A34A"/>
                </a:solidFill>
                <a:latin typeface="Outfit"/>
              </a:defRPr>
            </a:pPr>
            <a:r>
              <a:t>Data Plane (Current Implementation)</a:t>
            </a:r>
          </a:p>
          <a:p>
            <a:pPr>
              <a:spcBef>
                <a:spcPts val="400"/>
              </a:spcBef>
              <a:defRPr sz="1400">
                <a:solidFill>
                  <a:srgbClr val="334155"/>
                </a:solidFill>
                <a:latin typeface="Calibri"/>
              </a:defRPr>
            </a:pPr>
            <a:r>
              <a:t>Manages raw transfer: libp2p hosts, Circuit v2 Relay fallback, DCUtR hole punching, and the stateless Chunk Protocol.</a:t>
            </a:r>
          </a:p>
        </p:txBody>
      </p:sp>
      <p:pic>
        <p:nvPicPr>
          <p:cNvPr id="6" name="Picture 5" descr="Architecture.png"/>
          <p:cNvPicPr>
            <a:picLocks noChangeAspect="1"/>
          </p:cNvPicPr>
          <p:nvPr/>
        </p:nvPicPr>
        <p:blipFill>
          <a:blip r:embed="rId4"/>
          <a:stretch>
            <a:fillRect/>
          </a:stretch>
        </p:blipFill>
        <p:spPr>
          <a:xfrm>
            <a:off x="6217920" y="1828800"/>
            <a:ext cx="5303520" cy="4114800"/>
          </a:xfrm>
          <a:prstGeom prst="rect">
            <a:avLst/>
          </a:prstGeom>
        </p:spPr>
      </p:pic>
      <p:sp>
        <p:nvSpPr>
          <p:cNvPr id="7" name="TextBox 6"/>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Content Preparation</a:t>
            </a:r>
          </a:p>
          <a:p>
            <a:pPr algn="ctr">
              <a:spcBef>
                <a:spcPts val="400"/>
              </a:spcBef>
              <a:defRPr sz="1500">
                <a:solidFill>
                  <a:srgbClr val="334155"/>
                </a:solidFill>
                <a:latin typeface="Calibri"/>
              </a:defRPr>
            </a:pPr>
            <a:r>
              <a:t>Chunking • Reed-Solomon Encoding • Manifest • Merkle Root</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Monolithic splitting: File is chunked into uniform blocks (default 256KB).</a:t>
            </a:r>
          </a:p>
          <a:p>
            <a:pPr>
              <a:spcBef>
                <a:spcPts val="1600"/>
              </a:spcBef>
              <a:defRPr sz="1600">
                <a:solidFill>
                  <a:srgbClr val="334155"/>
                </a:solidFill>
                <a:latin typeface="Calibri"/>
              </a:defRPr>
            </a:pPr>
            <a:r>
              <a:t>• Independent Encryption: Blocks encrypted via XChaCha20-Poly1305, enabling random access.</a:t>
            </a:r>
          </a:p>
          <a:p>
            <a:pPr>
              <a:spcBef>
                <a:spcPts val="1600"/>
              </a:spcBef>
              <a:defRPr sz="1600">
                <a:solidFill>
                  <a:srgbClr val="334155"/>
                </a:solidFill>
                <a:latin typeface="Calibri"/>
              </a:defRPr>
            </a:pPr>
            <a:r>
              <a:t>• Erasure expansion: Reed-Solomon coding produces Data + Parity Shards stored on providers.</a:t>
            </a:r>
          </a:p>
          <a:p>
            <a:pPr>
              <a:spcBef>
                <a:spcPts val="1600"/>
              </a:spcBef>
              <a:defRPr sz="1600">
                <a:solidFill>
                  <a:srgbClr val="334155"/>
                </a:solidFill>
                <a:latin typeface="Calibri"/>
              </a:defRPr>
            </a:pPr>
            <a:r>
              <a:t>• Structure binding: Merkle Tree root is computed to verify shard integrity.</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Kademlia DHT</a:t>
            </a:r>
          </a:p>
          <a:p>
            <a:pPr algn="ctr">
              <a:spcBef>
                <a:spcPts val="400"/>
              </a:spcBef>
              <a:defRPr sz="1500">
                <a:solidFill>
                  <a:srgbClr val="334155"/>
                </a:solidFill>
                <a:latin typeface="Calibri"/>
              </a:defRPr>
            </a:pPr>
            <a:r>
              <a:t>Decentralized Metadata and Discovery Substrate</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Discovery Substrate: Kademlia is not a file database; it is a peer address routing substrate.</a:t>
            </a:r>
          </a:p>
          <a:p>
            <a:pPr>
              <a:spcBef>
                <a:spcPts val="1600"/>
              </a:spcBef>
              <a:defRPr sz="1600">
                <a:solidFill>
                  <a:srgbClr val="334155"/>
                </a:solidFill>
                <a:latin typeface="Calibri"/>
              </a:defRPr>
            </a:pPr>
            <a:r>
              <a:t>• Reference records: Maps identifiers to provider lists and manifest details; does not store actual file data.</a:t>
            </a:r>
          </a:p>
          <a:p>
            <a:pPr>
              <a:spcBef>
                <a:spcPts val="1600"/>
              </a:spcBef>
              <a:defRPr sz="1600">
                <a:solidFill>
                  <a:srgbClr val="334155"/>
                </a:solidFill>
                <a:latin typeface="Calibri"/>
              </a:defRPr>
            </a:pPr>
            <a:r>
              <a:t>• Location resolution: Translates ShardID to a list of candidate host Multiaddresses.</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Shard Placement</a:t>
            </a:r>
          </a:p>
          <a:p>
            <a:pPr algn="ctr">
              <a:spcBef>
                <a:spcPts val="400"/>
              </a:spcBef>
              <a:defRPr sz="1500">
                <a:solidFill>
                  <a:srgbClr val="334155"/>
                </a:solidFill>
                <a:latin typeface="Calibri"/>
              </a:defRPr>
            </a:pPr>
            <a:r>
              <a:t>PlacementMap vs. ChunkProviderMap</a:t>
            </a:r>
          </a:p>
        </p:txBody>
      </p:sp>
      <p:sp>
        <p:nvSpPr>
          <p:cNvPr id="5" name="Rounded Rectangle 4"/>
          <p:cNvSpPr/>
          <p:nvPr/>
        </p:nvSpPr>
        <p:spPr>
          <a:xfrm>
            <a:off x="548640" y="2011680"/>
            <a:ext cx="53035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5303520" cy="3749039"/>
          </a:xfrm>
          <a:prstGeom prst="rect">
            <a:avLst/>
          </a:prstGeom>
          <a:noFill/>
        </p:spPr>
        <p:txBody>
          <a:bodyPr wrap="square">
            <a:spAutoFit/>
          </a:bodyPr>
          <a:lstStyle/>
          <a:p>
            <a:pPr>
              <a:defRPr sz="2000" b="1">
                <a:solidFill>
                  <a:srgbClr val="1E3A8A"/>
                </a:solidFill>
                <a:latin typeface="Outfit"/>
              </a:defRPr>
            </a:pPr>
            <a:r>
              <a:t>PlacementMap</a:t>
            </a:r>
          </a:p>
          <a:p>
            <a:pPr>
              <a:spcAft>
                <a:spcPts val="1200"/>
              </a:spcAft>
              <a:defRPr b="1" sz="1100">
                <a:solidFill>
                  <a:srgbClr val="2563EB"/>
                </a:solidFill>
              </a:defRPr>
            </a:pPr>
            <a:r>
              <a:t>Publisher Blueprint</a:t>
            </a:r>
          </a:p>
          <a:p>
            <a:pPr>
              <a:spcBef>
                <a:spcPts val="800"/>
              </a:spcBef>
              <a:defRPr sz="1400">
                <a:solidFill>
                  <a:srgbClr val="334155"/>
                </a:solidFill>
              </a:defRPr>
            </a:pPr>
            <a:r>
              <a:t>• Generated during file publication.</a:t>
            </a:r>
          </a:p>
          <a:p>
            <a:pPr>
              <a:spcBef>
                <a:spcPts val="800"/>
              </a:spcBef>
              <a:defRPr sz="1400">
                <a:solidFill>
                  <a:srgbClr val="334155"/>
                </a:solidFill>
              </a:defRPr>
            </a:pPr>
            <a:r>
              <a:t>• Defines the static distribution plan.</a:t>
            </a:r>
          </a:p>
          <a:p>
            <a:pPr>
              <a:spcBef>
                <a:spcPts val="800"/>
              </a:spcBef>
              <a:defRPr sz="1400">
                <a:solidFill>
                  <a:srgbClr val="334155"/>
                </a:solidFill>
              </a:defRPr>
            </a:pPr>
            <a:r>
              <a:t>• Maps shard hashes to target provider nodes.</a:t>
            </a:r>
          </a:p>
          <a:p>
            <a:pPr>
              <a:spcBef>
                <a:spcPts val="800"/>
              </a:spcBef>
              <a:defRPr sz="1400">
                <a:solidFill>
                  <a:srgbClr val="334155"/>
                </a:solidFill>
              </a:defRPr>
            </a:pPr>
            <a:r>
              <a:t>• Stored on the Control Plane.</a:t>
            </a:r>
          </a:p>
        </p:txBody>
      </p:sp>
      <p:sp>
        <p:nvSpPr>
          <p:cNvPr id="7" name="Rounded Rectangle 6"/>
          <p:cNvSpPr/>
          <p:nvPr/>
        </p:nvSpPr>
        <p:spPr>
          <a:xfrm>
            <a:off x="6217920" y="2011680"/>
            <a:ext cx="53035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103120"/>
            <a:ext cx="5303520" cy="3749039"/>
          </a:xfrm>
          <a:prstGeom prst="rect">
            <a:avLst/>
          </a:prstGeom>
          <a:noFill/>
        </p:spPr>
        <p:txBody>
          <a:bodyPr wrap="square">
            <a:spAutoFit/>
          </a:bodyPr>
          <a:lstStyle/>
          <a:p>
            <a:pPr>
              <a:defRPr sz="2000" b="1">
                <a:solidFill>
                  <a:srgbClr val="1E3A8A"/>
                </a:solidFill>
                <a:latin typeface="Outfit"/>
              </a:defRPr>
            </a:pPr>
            <a:r>
              <a:t>ChunkProviderMap</a:t>
            </a:r>
          </a:p>
          <a:p>
            <a:pPr>
              <a:spcAft>
                <a:spcPts val="1200"/>
              </a:spcAft>
              <a:defRPr b="1" sz="1100">
                <a:solidFill>
                  <a:srgbClr val="2563EB"/>
                </a:solidFill>
              </a:defRPr>
            </a:pPr>
            <a:r>
              <a:t>Client Execution Plan</a:t>
            </a:r>
          </a:p>
          <a:p>
            <a:pPr>
              <a:spcBef>
                <a:spcPts val="800"/>
              </a:spcBef>
              <a:defRPr sz="1400">
                <a:solidFill>
                  <a:srgbClr val="334155"/>
                </a:solidFill>
              </a:defRPr>
            </a:pPr>
            <a:r>
              <a:t>• Generated dynamically by the downloader.</a:t>
            </a:r>
          </a:p>
          <a:p>
            <a:pPr>
              <a:spcBef>
                <a:spcPts val="800"/>
              </a:spcBef>
              <a:defRPr sz="1400">
                <a:solidFill>
                  <a:srgbClr val="334155"/>
                </a:solidFill>
              </a:defRPr>
            </a:pPr>
            <a:r>
              <a:t>• Adapts to active, online provider nodes.</a:t>
            </a:r>
          </a:p>
          <a:p>
            <a:pPr>
              <a:spcBef>
                <a:spcPts val="800"/>
              </a:spcBef>
              <a:defRPr sz="1400">
                <a:solidFill>
                  <a:srgbClr val="334155"/>
                </a:solidFill>
              </a:defRPr>
            </a:pPr>
            <a:r>
              <a:t>• Maps required segments to online peers.</a:t>
            </a:r>
          </a:p>
          <a:p>
            <a:pPr>
              <a:spcBef>
                <a:spcPts val="800"/>
              </a:spcBef>
              <a:defRPr sz="1400">
                <a:solidFill>
                  <a:srgbClr val="334155"/>
                </a:solidFill>
              </a:defRPr>
            </a:pPr>
            <a:r>
              <a:t>• Ensures run-time transfer routing.</a:t>
            </a:r>
          </a:p>
        </p:txBody>
      </p:sp>
      <p:sp>
        <p:nvSpPr>
          <p:cNvPr id="9" name="TextBox 8"/>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P2P Network</a:t>
            </a:r>
          </a:p>
          <a:p>
            <a:pPr algn="ctr">
              <a:spcBef>
                <a:spcPts val="400"/>
              </a:spcBef>
              <a:defRPr sz="1500">
                <a:solidFill>
                  <a:srgbClr val="334155"/>
                </a:solidFill>
                <a:latin typeface="Calibri"/>
              </a:defRPr>
            </a:pPr>
            <a:r>
              <a:t>libp2p • Relay • DCUtR • Direct Connectivity</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libp2p Host: Manages persistent Ed25519 identity keys and TCP/QUIC stream multiplexing.</a:t>
            </a:r>
          </a:p>
          <a:p>
            <a:pPr>
              <a:spcBef>
                <a:spcPts val="1600"/>
              </a:spcBef>
              <a:defRPr sz="1600">
                <a:solidFill>
                  <a:srgbClr val="334155"/>
                </a:solidFill>
                <a:latin typeface="Calibri"/>
              </a:defRPr>
            </a:pPr>
            <a:r>
              <a:t>• Circuit v2 Relay: Coordinates transient connection relays to route around NAT firewalls.</a:t>
            </a:r>
          </a:p>
          <a:p>
            <a:pPr>
              <a:spcBef>
                <a:spcPts val="1600"/>
              </a:spcBef>
              <a:defRPr sz="1600">
                <a:solidFill>
                  <a:srgbClr val="334155"/>
                </a:solidFill>
                <a:latin typeface="Calibri"/>
              </a:defRPr>
            </a:pPr>
            <a:r>
              <a:t>• DCUtR Upgrades: Coordinate background UDP simultaneous dial triggers to bypass NAT.</a:t>
            </a:r>
          </a:p>
          <a:p>
            <a:pPr>
              <a:spcBef>
                <a:spcPts val="1600"/>
              </a:spcBef>
              <a:defRPr sz="1600">
                <a:solidFill>
                  <a:srgbClr val="334155"/>
                </a:solidFill>
                <a:latin typeface="Calibri"/>
              </a:defRPr>
            </a:pPr>
            <a:r>
              <a:t>• Direct Transport: Streams fallback to direct connection paths automatically.</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Chunk Protocol</a:t>
            </a:r>
          </a:p>
          <a:p>
            <a:pPr algn="ctr">
              <a:spcBef>
                <a:spcPts val="400"/>
              </a:spcBef>
              <a:defRPr sz="1500">
                <a:solidFill>
                  <a:srgbClr val="334155"/>
                </a:solidFill>
                <a:latin typeface="Calibri"/>
              </a:defRPr>
            </a:pPr>
            <a:r>
              <a:t>Stateless Request / Response Stream Operations</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Protocol ID: Registered as /cipher/chunk/1.0.0 over multiplexed streams.</a:t>
            </a:r>
          </a:p>
          <a:p>
            <a:pPr>
              <a:spcBef>
                <a:spcPts val="1600"/>
              </a:spcBef>
              <a:defRPr sz="1600">
                <a:solidFill>
                  <a:srgbClr val="334155"/>
                </a:solidFill>
                <a:latin typeface="Calibri"/>
              </a:defRPr>
            </a:pPr>
            <a:r>
              <a:t>• Framed Envelopes: Uses size-prefixed message frames (capped at 2MB) for memory protection.</a:t>
            </a:r>
          </a:p>
          <a:p>
            <a:pPr>
              <a:spcBef>
                <a:spcPts val="1600"/>
              </a:spcBef>
              <a:defRPr sz="1600">
                <a:solidFill>
                  <a:srgbClr val="334155"/>
                </a:solidFill>
                <a:latin typeface="Calibri"/>
              </a:defRPr>
            </a:pPr>
            <a:r>
              <a:t>• Stateless Exchange: Handlers perform strict request/response data pushes, decoupling network state from application logic.</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Parallel Download</a:t>
            </a:r>
          </a:p>
          <a:p>
            <a:pPr algn="ctr">
              <a:spcBef>
                <a:spcPts val="400"/>
              </a:spcBef>
              <a:defRPr sz="1500">
                <a:solidFill>
                  <a:srgbClr val="334155"/>
                </a:solidFill>
                <a:latin typeface="Calibri"/>
              </a:defRPr>
            </a:pPr>
            <a:r>
              <a:t>TransferManager &amp; Scheduler Coordination</a:t>
            </a:r>
          </a:p>
        </p:txBody>
      </p:sp>
      <p:sp>
        <p:nvSpPr>
          <p:cNvPr id="5" name="Rounded Rectangle 4"/>
          <p:cNvSpPr/>
          <p:nvPr/>
        </p:nvSpPr>
        <p:spPr>
          <a:xfrm>
            <a:off x="548640" y="2011680"/>
            <a:ext cx="53035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5303520" cy="3749039"/>
          </a:xfrm>
          <a:prstGeom prst="rect">
            <a:avLst/>
          </a:prstGeom>
          <a:noFill/>
        </p:spPr>
        <p:txBody>
          <a:bodyPr wrap="square">
            <a:spAutoFit/>
          </a:bodyPr>
          <a:lstStyle/>
          <a:p>
            <a:pPr>
              <a:defRPr sz="2000" b="1">
                <a:solidFill>
                  <a:srgbClr val="1E3A8A"/>
                </a:solidFill>
                <a:latin typeface="Outfit"/>
              </a:defRPr>
            </a:pPr>
            <a:r>
              <a:t>TransferManager</a:t>
            </a:r>
          </a:p>
          <a:p>
            <a:pPr>
              <a:spcAft>
                <a:spcPts val="1200"/>
              </a:spcAft>
              <a:defRPr b="1" sz="1100">
                <a:solidFill>
                  <a:srgbClr val="2563EB"/>
                </a:solidFill>
              </a:defRPr>
            </a:pPr>
            <a:r>
              <a:t>Session Orchestration</a:t>
            </a:r>
          </a:p>
          <a:p>
            <a:pPr>
              <a:spcBef>
                <a:spcPts val="800"/>
              </a:spcBef>
              <a:defRPr sz="1400">
                <a:solidFill>
                  <a:srgbClr val="334155"/>
                </a:solidFill>
              </a:defRPr>
            </a:pPr>
            <a:r>
              <a:t>• Owns the lifecycle of file downloads.</a:t>
            </a:r>
          </a:p>
          <a:p>
            <a:pPr>
              <a:spcBef>
                <a:spcPts val="800"/>
              </a:spcBef>
              <a:defRPr sz="1400">
                <a:solidFill>
                  <a:srgbClr val="334155"/>
                </a:solidFill>
              </a:defRPr>
            </a:pPr>
            <a:r>
              <a:t>• Persists session progress locally using a Boolean bitset.</a:t>
            </a:r>
          </a:p>
          <a:p>
            <a:pPr>
              <a:spcBef>
                <a:spcPts val="800"/>
              </a:spcBef>
              <a:defRPr sz="1400">
                <a:solidFill>
                  <a:srgbClr val="334155"/>
                </a:solidFill>
              </a:defRPr>
            </a:pPr>
            <a:r>
              <a:t>• Ensures client never re-downloads completed data blocks on crash.</a:t>
            </a:r>
          </a:p>
        </p:txBody>
      </p:sp>
      <p:sp>
        <p:nvSpPr>
          <p:cNvPr id="7" name="Rounded Rectangle 6"/>
          <p:cNvSpPr/>
          <p:nvPr/>
        </p:nvSpPr>
        <p:spPr>
          <a:xfrm>
            <a:off x="6217920" y="2011680"/>
            <a:ext cx="530352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103120"/>
            <a:ext cx="5303520" cy="3749039"/>
          </a:xfrm>
          <a:prstGeom prst="rect">
            <a:avLst/>
          </a:prstGeom>
          <a:noFill/>
        </p:spPr>
        <p:txBody>
          <a:bodyPr wrap="square">
            <a:spAutoFit/>
          </a:bodyPr>
          <a:lstStyle/>
          <a:p>
            <a:pPr>
              <a:defRPr sz="2000" b="1">
                <a:solidFill>
                  <a:srgbClr val="1E3A8A"/>
                </a:solidFill>
                <a:latin typeface="Outfit"/>
              </a:defRPr>
            </a:pPr>
            <a:r>
              <a:t>Scheduler</a:t>
            </a:r>
          </a:p>
          <a:p>
            <a:pPr>
              <a:spcAft>
                <a:spcPts val="1200"/>
              </a:spcAft>
              <a:defRPr b="1" sz="1100">
                <a:solidFill>
                  <a:srgbClr val="2563EB"/>
                </a:solidFill>
              </a:defRPr>
            </a:pPr>
            <a:r>
              <a:t>Work Allocation</a:t>
            </a:r>
          </a:p>
          <a:p>
            <a:pPr>
              <a:spcBef>
                <a:spcPts val="800"/>
              </a:spcBef>
              <a:defRPr sz="1400">
                <a:solidFill>
                  <a:srgbClr val="334155"/>
                </a:solidFill>
              </a:defRPr>
            </a:pPr>
            <a:r>
              <a:t>• Maintains a lock-free queue of pending shard tasks.</a:t>
            </a:r>
          </a:p>
          <a:p>
            <a:pPr>
              <a:spcBef>
                <a:spcPts val="800"/>
              </a:spcBef>
              <a:defRPr sz="1400">
                <a:solidFill>
                  <a:srgbClr val="334155"/>
                </a:solidFill>
              </a:defRPr>
            </a:pPr>
            <a:r>
              <a:t>• Spins up concurrent worker threads to query distinct target peers.</a:t>
            </a:r>
          </a:p>
          <a:p>
            <a:pPr>
              <a:spcBef>
                <a:spcPts val="800"/>
              </a:spcBef>
              <a:defRPr sz="1400">
                <a:solidFill>
                  <a:srgbClr val="334155"/>
                </a:solidFill>
              </a:defRPr>
            </a:pPr>
            <a:r>
              <a:t>• Recycles tasks back to the queue on peer disconnect or timeout.</a:t>
            </a:r>
          </a:p>
        </p:txBody>
      </p:sp>
      <p:sp>
        <p:nvSpPr>
          <p:cNvPr id="9" name="TextBox 8"/>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Security &amp; Integrity</a:t>
            </a:r>
          </a:p>
          <a:p>
            <a:pPr algn="ctr">
              <a:spcBef>
                <a:spcPts val="400"/>
              </a:spcBef>
              <a:defRPr sz="1500">
                <a:solidFill>
                  <a:srgbClr val="334155"/>
                </a:solidFill>
                <a:latin typeface="Calibri"/>
              </a:defRPr>
            </a:pPr>
            <a:r>
              <a:t>Proof over Trust Security Model</a:t>
            </a:r>
          </a:p>
        </p:txBody>
      </p:sp>
      <p:sp>
        <p:nvSpPr>
          <p:cNvPr id="5" name="Rounded Rectangle 4"/>
          <p:cNvSpPr/>
          <p:nvPr/>
        </p:nvSpPr>
        <p:spPr>
          <a:xfrm>
            <a:off x="548640" y="2011680"/>
            <a:ext cx="338328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3383280" cy="3749039"/>
          </a:xfrm>
          <a:prstGeom prst="rect">
            <a:avLst/>
          </a:prstGeom>
          <a:noFill/>
        </p:spPr>
        <p:txBody>
          <a:bodyPr wrap="square">
            <a:spAutoFit/>
          </a:bodyPr>
          <a:lstStyle/>
          <a:p>
            <a:pPr algn="ctr">
              <a:defRPr sz="1800" b="1">
                <a:solidFill>
                  <a:srgbClr val="1E3A8A"/>
                </a:solidFill>
                <a:latin typeface="Outfit"/>
              </a:defRPr>
            </a:pPr>
            <a:r>
              <a:t>Confidentiality</a:t>
            </a:r>
          </a:p>
          <a:p>
            <a:pPr algn="ctr">
              <a:spcAft>
                <a:spcPts val="1200"/>
              </a:spcAft>
              <a:defRPr sz="1100" b="1">
                <a:solidFill>
                  <a:srgbClr val="2563EB"/>
                </a:solidFill>
                <a:latin typeface="Calibri"/>
              </a:defRPr>
            </a:pPr>
            <a:r>
              <a:t>XChaCha20-Poly1305</a:t>
            </a:r>
          </a:p>
          <a:p>
            <a:pPr>
              <a:spcBef>
                <a:spcPts val="800"/>
              </a:spcBef>
              <a:defRPr sz="1300">
                <a:solidFill>
                  <a:srgbClr val="334155"/>
                </a:solidFill>
                <a:latin typeface="Calibri"/>
              </a:defRPr>
            </a:pPr>
            <a:r>
              <a:t>Independent block encryption enables random-access, multi-peer swarming decryption. Decryption keys remain private.</a:t>
            </a:r>
          </a:p>
        </p:txBody>
      </p:sp>
      <p:sp>
        <p:nvSpPr>
          <p:cNvPr id="7" name="Rounded Rectangle 6"/>
          <p:cNvSpPr/>
          <p:nvPr/>
        </p:nvSpPr>
        <p:spPr>
          <a:xfrm>
            <a:off x="4114800" y="2011680"/>
            <a:ext cx="338328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2103120"/>
            <a:ext cx="3383280" cy="3749039"/>
          </a:xfrm>
          <a:prstGeom prst="rect">
            <a:avLst/>
          </a:prstGeom>
          <a:noFill/>
        </p:spPr>
        <p:txBody>
          <a:bodyPr wrap="square">
            <a:spAutoFit/>
          </a:bodyPr>
          <a:lstStyle/>
          <a:p>
            <a:pPr algn="ctr">
              <a:defRPr sz="1800" b="1">
                <a:solidFill>
                  <a:srgbClr val="1E3A8A"/>
                </a:solidFill>
                <a:latin typeface="Outfit"/>
              </a:defRPr>
            </a:pPr>
            <a:r>
              <a:t>Integrity</a:t>
            </a:r>
          </a:p>
          <a:p>
            <a:pPr algn="ctr">
              <a:spcAft>
                <a:spcPts val="1200"/>
              </a:spcAft>
              <a:defRPr sz="1100" b="1">
                <a:solidFill>
                  <a:srgbClr val="2563EB"/>
                </a:solidFill>
                <a:latin typeface="Calibri"/>
              </a:defRPr>
            </a:pPr>
            <a:r>
              <a:t>Content-Addressing</a:t>
            </a:r>
          </a:p>
          <a:p>
            <a:pPr>
              <a:spcBef>
                <a:spcPts val="800"/>
              </a:spcBef>
              <a:defRPr sz="1300">
                <a:solidFill>
                  <a:srgbClr val="334155"/>
                </a:solidFill>
                <a:latin typeface="Calibri"/>
              </a:defRPr>
            </a:pPr>
            <a:r>
              <a:t>Shard hashes are derived from ciphertext. SHA-256 checks run immediately; corrupt data is rejected before writing to disk.</a:t>
            </a:r>
          </a:p>
        </p:txBody>
      </p:sp>
      <p:sp>
        <p:nvSpPr>
          <p:cNvPr id="9" name="Rounded Rectangle 8"/>
          <p:cNvSpPr/>
          <p:nvPr/>
        </p:nvSpPr>
        <p:spPr>
          <a:xfrm>
            <a:off x="7680960" y="2011680"/>
            <a:ext cx="338328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2103120"/>
            <a:ext cx="3383280" cy="3749039"/>
          </a:xfrm>
          <a:prstGeom prst="rect">
            <a:avLst/>
          </a:prstGeom>
          <a:noFill/>
        </p:spPr>
        <p:txBody>
          <a:bodyPr wrap="square">
            <a:spAutoFit/>
          </a:bodyPr>
          <a:lstStyle/>
          <a:p>
            <a:pPr algn="ctr">
              <a:defRPr sz="1800" b="1">
                <a:solidFill>
                  <a:srgbClr val="1E3A8A"/>
                </a:solidFill>
                <a:latin typeface="Outfit"/>
              </a:defRPr>
            </a:pPr>
            <a:r>
              <a:t>Structure</a:t>
            </a:r>
          </a:p>
          <a:p>
            <a:pPr algn="ctr">
              <a:spcAft>
                <a:spcPts val="1200"/>
              </a:spcAft>
              <a:defRPr sz="1100" b="1">
                <a:solidFill>
                  <a:srgbClr val="2563EB"/>
                </a:solidFill>
                <a:latin typeface="Calibri"/>
              </a:defRPr>
            </a:pPr>
            <a:r>
              <a:t>Merkle Verification</a:t>
            </a:r>
          </a:p>
          <a:p>
            <a:pPr>
              <a:spcBef>
                <a:spcPts val="800"/>
              </a:spcBef>
              <a:defRPr sz="1300">
                <a:solidFill>
                  <a:srgbClr val="334155"/>
                </a:solidFill>
                <a:latin typeface="Calibri"/>
              </a:defRPr>
            </a:pPr>
            <a:r>
              <a:t>Merkle tree structures verify that downloaded segments belong to the original file, blocking poison blocks.</a:t>
            </a:r>
          </a:p>
        </p:txBody>
      </p:sp>
      <p:sp>
        <p:nvSpPr>
          <p:cNvPr id="11" name="TextBox 10"/>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Download Flow</a:t>
            </a:r>
          </a:p>
          <a:p>
            <a:pPr algn="ctr">
              <a:spcBef>
                <a:spcPts val="400"/>
              </a:spcBef>
              <a:defRPr sz="1500">
                <a:solidFill>
                  <a:srgbClr val="334155"/>
                </a:solidFill>
                <a:latin typeface="Calibri"/>
              </a:defRPr>
            </a:pPr>
            <a:r>
              <a:t>Manifest Resolution -&gt; Provider Discovery -&gt; Parallel Download</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Bootstrap: Fetch JSON manifest metadata using ManifestID.</a:t>
            </a:r>
          </a:p>
          <a:p>
            <a:pPr>
              <a:spcBef>
                <a:spcPts val="1600"/>
              </a:spcBef>
              <a:defRPr sz="1600">
                <a:solidFill>
                  <a:srgbClr val="334155"/>
                </a:solidFill>
                <a:latin typeface="Calibri"/>
              </a:defRPr>
            </a:pPr>
            <a:r>
              <a:t>• Planning: Query placement records to compile the local ChunkProviderMap.</a:t>
            </a:r>
          </a:p>
          <a:p>
            <a:pPr>
              <a:spcBef>
                <a:spcPts val="1600"/>
              </a:spcBef>
              <a:defRPr sz="1600">
                <a:solidFill>
                  <a:srgbClr val="334155"/>
                </a:solidFill>
                <a:latin typeface="Calibri"/>
              </a:defRPr>
            </a:pPr>
            <a:r>
              <a:t>• Transfer: Concurrent worker routines request shards in parallel streams.</a:t>
            </a:r>
          </a:p>
          <a:p>
            <a:pPr>
              <a:spcBef>
                <a:spcPts val="1600"/>
              </a:spcBef>
              <a:defRPr sz="1600">
                <a:solidFill>
                  <a:srgbClr val="334155"/>
                </a:solidFill>
                <a:latin typeface="Calibri"/>
              </a:defRPr>
            </a:pPr>
            <a:r>
              <a:t>• Reassembly: Validate shard hashes and decode Reed-Solomon blocks to build the original file.</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CIPHER in Action</a:t>
            </a:r>
          </a:p>
          <a:p>
            <a:pPr algn="ctr">
              <a:spcBef>
                <a:spcPts val="400"/>
              </a:spcBef>
              <a:defRPr sz="1500">
                <a:solidFill>
                  <a:srgbClr val="334155"/>
                </a:solidFill>
                <a:latin typeface="Calibri"/>
              </a:defRPr>
            </a:pPr>
            <a:r>
              <a:t>End-to-End File Distribution Demo</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File Ingestion: Chunks file, encrypts via XChaCha20, and publishes the manifest.</a:t>
            </a:r>
          </a:p>
          <a:p>
            <a:pPr>
              <a:spcBef>
                <a:spcPts val="1600"/>
              </a:spcBef>
              <a:defRPr sz="1600">
                <a:solidFill>
                  <a:srgbClr val="334155"/>
                </a:solidFill>
                <a:latin typeface="Calibri"/>
              </a:defRPr>
            </a:pPr>
            <a:r>
              <a:t>• DHT Registration: Registers shard locations (PlacementMap) on Kademlia.</a:t>
            </a:r>
          </a:p>
          <a:p>
            <a:pPr>
              <a:spcBef>
                <a:spcPts val="1600"/>
              </a:spcBef>
              <a:defRPr sz="1600">
                <a:solidFill>
                  <a:srgbClr val="334155"/>
                </a:solidFill>
                <a:latin typeface="Calibri"/>
              </a:defRPr>
            </a:pPr>
            <a:r>
              <a:t>• Direct Upgrade: Triggers DCUtR hole punching to bypass NAT barriers.</a:t>
            </a:r>
          </a:p>
          <a:p>
            <a:pPr>
              <a:spcBef>
                <a:spcPts val="1600"/>
              </a:spcBef>
              <a:defRPr sz="1600">
                <a:solidFill>
                  <a:srgbClr val="334155"/>
                </a:solidFill>
                <a:latin typeface="Calibri"/>
              </a:defRPr>
            </a:pPr>
            <a:r>
              <a:t>• Swarmed Retrieval: Concurrent workers download and verify shards.</a:t>
            </a:r>
          </a:p>
        </p:txBody>
      </p:sp>
      <p:sp>
        <p:nvSpPr>
          <p:cNvPr id="6" name="Rectangle 5"/>
          <p:cNvSpPr/>
          <p:nvPr/>
        </p:nvSpPr>
        <p:spPr>
          <a:xfrm>
            <a:off x="6217920" y="1828800"/>
            <a:ext cx="5303520" cy="4114800"/>
          </a:xfrm>
          <a:prstGeom prst="rect">
            <a:avLst/>
          </a:prstGeom>
          <a:solidFill>
            <a:srgbClr val="090D16"/>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920240"/>
            <a:ext cx="5120640" cy="3931920"/>
          </a:xfrm>
          <a:prstGeom prst="rect">
            <a:avLst/>
          </a:prstGeom>
          <a:noFill/>
        </p:spPr>
        <p:txBody>
          <a:bodyPr wrap="square">
            <a:spAutoFit/>
          </a:bodyPr>
          <a:lstStyle/>
          <a:p>
            <a:pPr>
              <a:defRPr sz="1000" b="1">
                <a:solidFill>
                  <a:srgbClr val="16A34A"/>
                </a:solidFill>
                <a:latin typeface="Courier New"/>
              </a:defRPr>
            </a:pPr>
            <a:r>
              <a:t>SYSTEM INTEGRATION LOGS:</a:t>
            </a:r>
          </a:p>
          <a:p>
            <a:pPr>
              <a:spcBef>
                <a:spcPts val="300"/>
              </a:spcBef>
              <a:defRPr sz="900">
                <a:solidFill>
                  <a:srgbClr val="E2E8F0"/>
                </a:solidFill>
                <a:latin typeface="Courier New"/>
              </a:defRPr>
            </a:pPr>
            <a:r>
              <a:t>[INFO] content: Ingested file, created 16 chunks</a:t>
            </a:r>
          </a:p>
          <a:p>
            <a:pPr>
              <a:spcBef>
                <a:spcPts val="300"/>
              </a:spcBef>
              <a:defRPr sz="900">
                <a:solidFill>
                  <a:srgbClr val="E2E8F0"/>
                </a:solidFill>
                <a:latin typeface="Courier New"/>
              </a:defRPr>
            </a:pPr>
            <a:r>
              <a:t>[INFO] manifest: Merkle root computed = a7b8...4f1e</a:t>
            </a:r>
          </a:p>
          <a:p>
            <a:pPr>
              <a:spcBef>
                <a:spcPts val="300"/>
              </a:spcBef>
              <a:defRPr sz="900">
                <a:solidFill>
                  <a:srgbClr val="E2E8F0"/>
                </a:solidFill>
                <a:latin typeface="Courier New"/>
              </a:defRPr>
            </a:pPr>
            <a:r>
              <a:t>[INFO] control: Registering shards on PlacementMap</a:t>
            </a:r>
          </a:p>
          <a:p>
            <a:pPr>
              <a:spcBef>
                <a:spcPts val="300"/>
              </a:spcBef>
              <a:defRPr sz="900">
                <a:solidFill>
                  <a:srgbClr val="E2E8F0"/>
                </a:solidFill>
                <a:latin typeface="Courier New"/>
              </a:defRPr>
            </a:pPr>
            <a:r>
              <a:t>[INFO] transport: relay connection PeerID=12D3K...</a:t>
            </a:r>
          </a:p>
          <a:p>
            <a:pPr>
              <a:spcBef>
                <a:spcPts val="300"/>
              </a:spcBef>
              <a:defRPr sz="900">
                <a:solidFill>
                  <a:srgbClr val="E2E8F0"/>
                </a:solidFill>
                <a:latin typeface="Courier New"/>
              </a:defRPr>
            </a:pPr>
            <a:r>
              <a:t>[INFO] dcutr: UDP hole punch succeeded! Direct active</a:t>
            </a:r>
          </a:p>
          <a:p>
            <a:pPr>
              <a:spcBef>
                <a:spcPts val="300"/>
              </a:spcBef>
              <a:defRPr sz="900">
                <a:solidFill>
                  <a:srgbClr val="E2E8F0"/>
                </a:solidFill>
                <a:latin typeface="Courier New"/>
              </a:defRPr>
            </a:pPr>
            <a:r>
              <a:t>[INFO] scheduler: starting parallel swarm retrials</a:t>
            </a:r>
          </a:p>
          <a:p>
            <a:pPr>
              <a:spcBef>
                <a:spcPts val="300"/>
              </a:spcBef>
              <a:defRPr sz="900">
                <a:solidFill>
                  <a:srgbClr val="E2E8F0"/>
                </a:solidFill>
                <a:latin typeface="Courier New"/>
              </a:defRPr>
            </a:pPr>
            <a:r>
              <a:t>[INFO] worker-0: downloading shard 0... OK</a:t>
            </a:r>
          </a:p>
          <a:p>
            <a:pPr>
              <a:spcBef>
                <a:spcPts val="300"/>
              </a:spcBef>
              <a:defRPr sz="900">
                <a:solidFill>
                  <a:srgbClr val="E2E8F0"/>
                </a:solidFill>
                <a:latin typeface="Courier New"/>
              </a:defRPr>
            </a:pPr>
            <a:r>
              <a:t>[INFO] verifier: SHA-256 match for shard 0 &amp; 1</a:t>
            </a:r>
          </a:p>
          <a:p>
            <a:pPr>
              <a:spcBef>
                <a:spcPts val="300"/>
              </a:spcBef>
              <a:defRPr sz="900">
                <a:solidFill>
                  <a:srgbClr val="E2E8F0"/>
                </a:solidFill>
                <a:latin typeface="Courier New"/>
              </a:defRPr>
            </a:pPr>
            <a:r>
              <a:t>[INFO] engine: verification succeeded, file reconstructed</a:t>
            </a:r>
          </a:p>
        </p:txBody>
      </p:sp>
      <p:sp>
        <p:nvSpPr>
          <p:cNvPr id="8" name="TextBox 7"/>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Failure Recovery</a:t>
            </a:r>
          </a:p>
          <a:p>
            <a:pPr algn="ctr">
              <a:spcBef>
                <a:spcPts val="400"/>
              </a:spcBef>
              <a:defRPr sz="1500">
                <a:solidFill>
                  <a:srgbClr val="334155"/>
                </a:solidFill>
                <a:latin typeface="Calibri"/>
              </a:defRPr>
            </a:pPr>
            <a:r>
              <a:t>Ensuring Fault-Resilient Shard Retrieval</a:t>
            </a:r>
          </a:p>
        </p:txBody>
      </p:sp>
      <p:sp>
        <p:nvSpPr>
          <p:cNvPr id="5" name="TextBox 4"/>
          <p:cNvSpPr txBox="1"/>
          <p:nvPr/>
        </p:nvSpPr>
        <p:spPr>
          <a:xfrm>
            <a:off x="548640" y="1828800"/>
            <a:ext cx="5486400" cy="4114800"/>
          </a:xfrm>
          <a:prstGeom prst="rect">
            <a:avLst/>
          </a:prstGeom>
          <a:noFill/>
        </p:spPr>
        <p:txBody>
          <a:bodyPr wrap="square">
            <a:spAutoFit/>
          </a:bodyPr>
          <a:lstStyle/>
          <a:p>
            <a:pPr>
              <a:spcBef>
                <a:spcPts val="0"/>
              </a:spcBef>
              <a:defRPr sz="1600">
                <a:solidFill>
                  <a:srgbClr val="334155"/>
                </a:solidFill>
                <a:latin typeface="Calibri"/>
              </a:defRPr>
            </a:pPr>
            <a:r>
              <a:t>• Dynamic Failover: Connection drops trigger provider switching; the scheduler recycles the task to alternative nodes.</a:t>
            </a:r>
          </a:p>
          <a:p>
            <a:pPr>
              <a:spcBef>
                <a:spcPts val="1600"/>
              </a:spcBef>
              <a:defRPr sz="1600">
                <a:solidFill>
                  <a:srgbClr val="334155"/>
                </a:solidFill>
                <a:latin typeface="Calibri"/>
              </a:defRPr>
            </a:pPr>
            <a:r>
              <a:t>• Interruption Resuming: Interrupted downloads load progress bitsets and fetch only missing shards.</a:t>
            </a:r>
          </a:p>
          <a:p>
            <a:pPr>
              <a:spcBef>
                <a:spcPts val="1600"/>
              </a:spcBef>
              <a:defRPr sz="1600">
                <a:solidFill>
                  <a:srgbClr val="334155"/>
                </a:solidFill>
                <a:latin typeface="Calibri"/>
              </a:defRPr>
            </a:pPr>
            <a:r>
              <a:t>• Reed-Solomon Limit: Decodes data if ANY K out of K+M shards are present. Fails if lost shards exceed parity M.</a:t>
            </a:r>
          </a:p>
        </p:txBody>
      </p:sp>
      <p:sp>
        <p:nvSpPr>
          <p:cNvPr id="6" name="TextBox 5"/>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Future Implementations</a:t>
            </a:r>
          </a:p>
          <a:p>
            <a:pPr algn="ctr">
              <a:spcBef>
                <a:spcPts val="400"/>
              </a:spcBef>
              <a:defRPr sz="1500">
                <a:solidFill>
                  <a:srgbClr val="334155"/>
                </a:solidFill>
                <a:latin typeface="Calibri"/>
              </a:defRPr>
            </a:pPr>
            <a:r>
              <a:t>Scalability • Optimization • Incentives</a:t>
            </a:r>
          </a:p>
        </p:txBody>
      </p:sp>
      <p:sp>
        <p:nvSpPr>
          <p:cNvPr id="5" name="Rounded Rectangle 4"/>
          <p:cNvSpPr/>
          <p:nvPr/>
        </p:nvSpPr>
        <p:spPr>
          <a:xfrm>
            <a:off x="548640" y="2011680"/>
            <a:ext cx="338328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3383280" cy="3749039"/>
          </a:xfrm>
          <a:prstGeom prst="rect">
            <a:avLst/>
          </a:prstGeom>
          <a:noFill/>
        </p:spPr>
        <p:txBody>
          <a:bodyPr wrap="square">
            <a:spAutoFit/>
          </a:bodyPr>
          <a:lstStyle/>
          <a:p>
            <a:pPr algn="ctr">
              <a:spcAft>
                <a:spcPts val="1200"/>
              </a:spcAft>
              <a:defRPr sz="1800" b="1">
                <a:solidFill>
                  <a:srgbClr val="1E3A8A"/>
                </a:solidFill>
                <a:latin typeface="Outfit"/>
              </a:defRPr>
            </a:pPr>
            <a:r>
              <a:t>1. Advanced Scheduling</a:t>
            </a:r>
          </a:p>
          <a:p>
            <a:pPr>
              <a:spcBef>
                <a:spcPts val="800"/>
              </a:spcBef>
              <a:defRPr sz="1300">
                <a:solidFill>
                  <a:srgbClr val="334155"/>
                </a:solidFill>
                <a:latin typeface="Calibri"/>
              </a:defRPr>
            </a:pPr>
            <a:r>
              <a:t>• Rarest-first shard scheduling to maximize shard distribution throughout the network.</a:t>
            </a:r>
            <a:br/>
            <a:r>
              <a:t>• Latency and bandwidth-aware provider selection.</a:t>
            </a:r>
            <a:br/>
            <a:r>
              <a:t>• Provider reputation scoring.</a:t>
            </a:r>
          </a:p>
        </p:txBody>
      </p:sp>
      <p:sp>
        <p:nvSpPr>
          <p:cNvPr id="7" name="Rounded Rectangle 6"/>
          <p:cNvSpPr/>
          <p:nvPr/>
        </p:nvSpPr>
        <p:spPr>
          <a:xfrm>
            <a:off x="4114800" y="2011680"/>
            <a:ext cx="338328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0" y="2103120"/>
            <a:ext cx="3383280" cy="3749039"/>
          </a:xfrm>
          <a:prstGeom prst="rect">
            <a:avLst/>
          </a:prstGeom>
          <a:noFill/>
        </p:spPr>
        <p:txBody>
          <a:bodyPr wrap="square">
            <a:spAutoFit/>
          </a:bodyPr>
          <a:lstStyle/>
          <a:p>
            <a:pPr algn="ctr">
              <a:spcAft>
                <a:spcPts val="1200"/>
              </a:spcAft>
              <a:defRPr sz="1800" b="1">
                <a:solidFill>
                  <a:srgbClr val="1E3A8A"/>
                </a:solidFill>
                <a:latin typeface="Outfit"/>
              </a:defRPr>
            </a:pPr>
            <a:r>
              <a:t>2. Incentive Engine</a:t>
            </a:r>
          </a:p>
          <a:p>
            <a:pPr>
              <a:spcBef>
                <a:spcPts val="800"/>
              </a:spcBef>
              <a:defRPr sz="1300">
                <a:solidFill>
                  <a:srgbClr val="334155"/>
                </a:solidFill>
                <a:latin typeface="Calibri"/>
              </a:defRPr>
            </a:pPr>
            <a:r>
              <a:t>• Token settlement layer using smart contracts to reward hosting nodes.</a:t>
            </a:r>
            <a:br/>
            <a:r>
              <a:t>• Zero-knowledge proofs of storage.</a:t>
            </a:r>
            <a:br/>
            <a:r>
              <a:t>• Micro-payment channels.</a:t>
            </a:r>
          </a:p>
        </p:txBody>
      </p:sp>
      <p:sp>
        <p:nvSpPr>
          <p:cNvPr id="9" name="Rounded Rectangle 8"/>
          <p:cNvSpPr/>
          <p:nvPr/>
        </p:nvSpPr>
        <p:spPr>
          <a:xfrm>
            <a:off x="7680960" y="2011680"/>
            <a:ext cx="3383280" cy="3931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2103120"/>
            <a:ext cx="3383280" cy="3749039"/>
          </a:xfrm>
          <a:prstGeom prst="rect">
            <a:avLst/>
          </a:prstGeom>
          <a:noFill/>
        </p:spPr>
        <p:txBody>
          <a:bodyPr wrap="square">
            <a:spAutoFit/>
          </a:bodyPr>
          <a:lstStyle/>
          <a:p>
            <a:pPr algn="ctr">
              <a:spcAft>
                <a:spcPts val="1200"/>
              </a:spcAft>
              <a:defRPr sz="1800" b="1">
                <a:solidFill>
                  <a:srgbClr val="1E3A8A"/>
                </a:solidFill>
                <a:latin typeface="Outfit"/>
              </a:defRPr>
            </a:pPr>
            <a:r>
              <a:t>3. Protocol Hardening</a:t>
            </a:r>
          </a:p>
          <a:p>
            <a:pPr>
              <a:spcBef>
                <a:spcPts val="800"/>
              </a:spcBef>
              <a:defRPr sz="1300">
                <a:solidFill>
                  <a:srgbClr val="334155"/>
                </a:solidFill>
                <a:latin typeface="Calibri"/>
              </a:defRPr>
            </a:pPr>
            <a:r>
              <a:t>• Connection managers imposing strict stream limits per node to mitigate DDoS.</a:t>
            </a:r>
            <a:br/>
            <a:r>
              <a:t>• Bounded buffer stream limits.</a:t>
            </a:r>
            <a:br/>
            <a:r>
              <a:t>• Protocol testing under network attacks.</a:t>
            </a:r>
          </a:p>
        </p:txBody>
      </p:sp>
      <p:sp>
        <p:nvSpPr>
          <p:cNvPr id="11" name="TextBox 10"/>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eather.png"/>
          <p:cNvPicPr>
            <a:picLocks noChangeAspect="1"/>
          </p:cNvPicPr>
          <p:nvPr/>
        </p:nvPicPr>
        <p:blipFill>
          <a:blip r:embed="rId2"/>
          <a:stretch>
            <a:fillRect/>
          </a:stretch>
        </p:blipFill>
        <p:spPr>
          <a:xfrm>
            <a:off x="548640" y="365760"/>
            <a:ext cx="411480" cy="548640"/>
          </a:xfrm>
          <a:prstGeom prst="rect">
            <a:avLst/>
          </a:prstGeom>
        </p:spPr>
      </p:pic>
      <p:pic>
        <p:nvPicPr>
          <p:cNvPr id="3" name="Picture 2" descr="devlup.png"/>
          <p:cNvPicPr>
            <a:picLocks noChangeAspect="1"/>
          </p:cNvPicPr>
          <p:nvPr/>
        </p:nvPicPr>
        <p:blipFill>
          <a:blip r:embed="rId3"/>
          <a:stretch>
            <a:fillRect/>
          </a:stretch>
        </p:blipFill>
        <p:spPr>
          <a:xfrm>
            <a:off x="11094415" y="365760"/>
            <a:ext cx="548640" cy="548640"/>
          </a:xfrm>
          <a:prstGeom prst="rect">
            <a:avLst/>
          </a:prstGeom>
        </p:spPr>
      </p:pic>
      <p:sp>
        <p:nvSpPr>
          <p:cNvPr id="4" name="TextBox 3"/>
          <p:cNvSpPr txBox="1"/>
          <p:nvPr/>
        </p:nvSpPr>
        <p:spPr>
          <a:xfrm>
            <a:off x="1828800" y="365760"/>
            <a:ext cx="8534095" cy="1097280"/>
          </a:xfrm>
          <a:prstGeom prst="rect">
            <a:avLst/>
          </a:prstGeom>
          <a:noFill/>
        </p:spPr>
        <p:txBody>
          <a:bodyPr wrap="square">
            <a:spAutoFit/>
          </a:bodyPr>
          <a:lstStyle/>
          <a:p>
            <a:pPr algn="ctr">
              <a:defRPr sz="3600" b="1">
                <a:solidFill>
                  <a:srgbClr val="1E3A8A"/>
                </a:solidFill>
                <a:latin typeface="Outfit"/>
              </a:defRPr>
            </a:pPr>
            <a:r>
              <a:t>Team</a:t>
            </a:r>
          </a:p>
          <a:p>
            <a:pPr algn="ctr">
              <a:spcBef>
                <a:spcPts val="400"/>
              </a:spcBef>
              <a:defRPr sz="1500">
                <a:solidFill>
                  <a:srgbClr val="334155"/>
                </a:solidFill>
                <a:latin typeface="Calibri"/>
              </a:defRPr>
            </a:pPr>
            <a:r>
              <a:t>Building CIPHER</a:t>
            </a:r>
          </a:p>
        </p:txBody>
      </p:sp>
      <p:sp>
        <p:nvSpPr>
          <p:cNvPr id="5" name="TextBox 4"/>
          <p:cNvSpPr txBox="1"/>
          <p:nvPr/>
        </p:nvSpPr>
        <p:spPr>
          <a:xfrm>
            <a:off x="548640" y="1828800"/>
            <a:ext cx="5303520" cy="4114800"/>
          </a:xfrm>
          <a:prstGeom prst="rect">
            <a:avLst/>
          </a:prstGeom>
          <a:noFill/>
        </p:spPr>
        <p:txBody>
          <a:bodyPr wrap="square">
            <a:spAutoFit/>
          </a:bodyPr>
          <a:lstStyle/>
          <a:p>
            <a:pPr>
              <a:spcAft>
                <a:spcPts val="1400"/>
              </a:spcAft>
              <a:defRPr sz="2200" b="1">
                <a:solidFill>
                  <a:srgbClr val="1E3A8A"/>
                </a:solidFill>
                <a:latin typeface="Outfit"/>
              </a:defRPr>
            </a:pPr>
            <a:r>
              <a:t>Contributors</a:t>
            </a:r>
          </a:p>
          <a:p>
            <a:pPr>
              <a:defRPr sz="1800" b="1">
                <a:solidFill>
                  <a:srgbClr val="2563EB"/>
                </a:solidFill>
                <a:latin typeface="Calibri"/>
              </a:defRPr>
            </a:pPr>
            <a:r>
              <a:t>Adarsh Kumar</a:t>
            </a:r>
          </a:p>
          <a:p>
            <a:pPr>
              <a:spcBef>
                <a:spcPts val="400"/>
              </a:spcBef>
              <a:defRPr sz="1300">
                <a:solidFill>
                  <a:srgbClr val="334155"/>
                </a:solidFill>
                <a:latin typeface="Calibri"/>
              </a:defRPr>
            </a:pPr>
            <a:r>
              <a:t>Core Developer • Backend, P2P Networks, &amp; Transport Layer Implementation</a:t>
            </a:r>
          </a:p>
        </p:txBody>
      </p:sp>
      <p:sp>
        <p:nvSpPr>
          <p:cNvPr id="6" name="TextBox 5"/>
          <p:cNvSpPr txBox="1"/>
          <p:nvPr/>
        </p:nvSpPr>
        <p:spPr>
          <a:xfrm>
            <a:off x="6217920" y="1828800"/>
            <a:ext cx="5303520" cy="4114800"/>
          </a:xfrm>
          <a:prstGeom prst="rect">
            <a:avLst/>
          </a:prstGeom>
          <a:noFill/>
        </p:spPr>
        <p:txBody>
          <a:bodyPr wrap="square">
            <a:spAutoFit/>
          </a:bodyPr>
          <a:lstStyle/>
          <a:p>
            <a:pPr>
              <a:spcAft>
                <a:spcPts val="1400"/>
              </a:spcAft>
              <a:defRPr sz="2200" b="1">
                <a:solidFill>
                  <a:srgbClr val="1E3A8A"/>
                </a:solidFill>
                <a:latin typeface="Outfit"/>
              </a:defRPr>
            </a:pPr>
            <a:r>
              <a:t>Mentors</a:t>
            </a:r>
          </a:p>
          <a:p>
            <a:pPr>
              <a:defRPr sz="1800" b="1">
                <a:solidFill>
                  <a:srgbClr val="2563EB"/>
                </a:solidFill>
                <a:latin typeface="Calibri"/>
              </a:defRPr>
            </a:pPr>
            <a:r>
              <a:t>DevlUp Labs</a:t>
            </a:r>
          </a:p>
          <a:p>
            <a:pPr>
              <a:spcBef>
                <a:spcPts val="400"/>
              </a:spcBef>
              <a:defRPr sz="1300">
                <a:solidFill>
                  <a:srgbClr val="334155"/>
                </a:solidFill>
                <a:latin typeface="Calibri"/>
              </a:defRPr>
            </a:pPr>
            <a:r>
              <a:t>IIT Jodhpur Student Developer Community</a:t>
            </a:r>
            <a:br/>
            <a:r>
              <a:t>Open Source Mentorship &amp; Platform Support</a:t>
            </a:r>
          </a:p>
          <a:p>
            <a:pPr>
              <a:spcBef>
                <a:spcPts val="2400"/>
              </a:spcBef>
              <a:defRPr sz="1300" i="1">
                <a:solidFill>
                  <a:srgbClr val="64748B"/>
                </a:solidFill>
                <a:latin typeface="Calibri"/>
              </a:defRPr>
            </a:pPr>
            <a:r>
              <a:t>IIT Jodhpur CSE Department Project Submission</a:t>
            </a:r>
          </a:p>
        </p:txBody>
      </p:sp>
      <p:sp>
        <p:nvSpPr>
          <p:cNvPr id="7" name="TextBox 6"/>
          <p:cNvSpPr txBox="1"/>
          <p:nvPr/>
        </p:nvSpPr>
        <p:spPr>
          <a:xfrm>
            <a:off x="10515600" y="6400800"/>
            <a:ext cx="1097280" cy="365760"/>
          </a:xfrm>
          <a:prstGeom prst="rect">
            <a:avLst/>
          </a:prstGeom>
          <a:noFill/>
        </p:spPr>
        <p:txBody>
          <a:bodyPr wrap="none">
            <a:spAutoFit/>
          </a:bodyPr>
          <a:lstStyle/>
          <a:p>
            <a:pPr algn="r">
              <a:defRPr sz="1100">
                <a:solidFill>
                  <a:srgbClr val="334155"/>
                </a:solidFill>
                <a:latin typeface="Calibri"/>
              </a:defRPr>
            </a:pPr>
            <a: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